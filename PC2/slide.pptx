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7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-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17163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58641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434028"/>
            <a:ext cx="8643938" cy="12464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405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Geração</a:t>
            </a:r>
            <a:r>
              <a:rPr lang="en-US" sz="4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Música </a:t>
            </a:r>
            <a:r>
              <a:rPr lang="en-US" sz="405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</a:t>
            </a:r>
            <a:r>
              <a:rPr lang="en-US" sz="4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Meio de </a:t>
            </a:r>
            <a:r>
              <a:rPr lang="en-US" sz="405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Inteligência</a:t>
            </a:r>
            <a:r>
              <a:rPr lang="en-US" sz="4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Artificial </a:t>
            </a:r>
            <a:r>
              <a:rPr lang="en-US" sz="405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Generativa</a:t>
            </a:r>
            <a:endParaRPr lang="en-US" sz="4050" dirty="0"/>
          </a:p>
        </p:txBody>
      </p:sp>
      <p:sp>
        <p:nvSpPr>
          <p:cNvPr id="4" name="Text 1"/>
          <p:cNvSpPr/>
          <p:nvPr/>
        </p:nvSpPr>
        <p:spPr>
          <a:xfrm>
            <a:off x="2177616" y="1971675"/>
            <a:ext cx="4860206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025" dirty="0">
                <a:solidFill>
                  <a:srgbClr val="3498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Evolução do Protótipo e Próximos Passos</a:t>
            </a:r>
            <a:endParaRPr lang="en-US" sz="2025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9038" y="3000375"/>
            <a:ext cx="342900" cy="34290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7688" y="3000375"/>
            <a:ext cx="342900" cy="342900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6338" y="3000375"/>
            <a:ext cx="428625" cy="34290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3295027" y="4129088"/>
            <a:ext cx="262535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Apresentação TCC2</a:t>
            </a:r>
            <a:endParaRPr lang="en-US" sz="1350" dirty="0"/>
          </a:p>
        </p:txBody>
      </p:sp>
      <p:sp>
        <p:nvSpPr>
          <p:cNvPr id="9" name="Text 3"/>
          <p:cNvSpPr/>
          <p:nvPr/>
        </p:nvSpPr>
        <p:spPr>
          <a:xfrm>
            <a:off x="3035034" y="4597000"/>
            <a:ext cx="2988207" cy="2077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Autor: Lucas Vinícius de Carvalho Ikeda</a:t>
            </a:r>
            <a:endParaRPr lang="en-US" sz="1350" dirty="0"/>
          </a:p>
        </p:txBody>
      </p:sp>
      <p:sp>
        <p:nvSpPr>
          <p:cNvPr id="10" name="Text 4"/>
          <p:cNvSpPr/>
          <p:nvPr/>
        </p:nvSpPr>
        <p:spPr>
          <a:xfrm>
            <a:off x="2825844" y="4804749"/>
            <a:ext cx="3406588" cy="2077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Orientador</a:t>
            </a: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Prof. Dr. Danillo Roberto Pereira</a:t>
            </a:r>
            <a:endParaRPr lang="en-US" sz="1350" dirty="0"/>
          </a:p>
        </p:txBody>
      </p:sp>
      <p:sp>
        <p:nvSpPr>
          <p:cNvPr id="11" name="Text 5"/>
          <p:cNvSpPr/>
          <p:nvPr/>
        </p:nvSpPr>
        <p:spPr>
          <a:xfrm>
            <a:off x="3216460" y="5038182"/>
            <a:ext cx="262535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Data: Junho de 2025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322819"/>
            <a:ext cx="8643938" cy="311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025" b="1" dirty="0" err="1">
                <a:solidFill>
                  <a:srgbClr val="3498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Sumário</a:t>
            </a:r>
            <a:endParaRPr lang="en-US" sz="2025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001" y="1868527"/>
            <a:ext cx="125016" cy="14287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25607" y="1791034"/>
            <a:ext cx="4079081" cy="308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Evolução Técnica Realizada</a:t>
            </a:r>
            <a:endParaRPr lang="en-US" sz="135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001" y="2284288"/>
            <a:ext cx="178594" cy="142875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825607" y="2206795"/>
            <a:ext cx="4079081" cy="308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Demonstração do Sistema Atual</a:t>
            </a:r>
            <a:endParaRPr lang="en-US" sz="135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001" y="2700048"/>
            <a:ext cx="142875" cy="142875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825607" y="2622556"/>
            <a:ext cx="4079081" cy="308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Análise dos Resultados</a:t>
            </a:r>
            <a:endParaRPr lang="en-US" sz="135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7001" y="3115809"/>
            <a:ext cx="160734" cy="142875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825607" y="3038316"/>
            <a:ext cx="4079081" cy="308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Próximos Passos para Conclusão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64393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025" b="1" dirty="0">
                <a:solidFill>
                  <a:srgbClr val="3498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Recapitulação - Estado Inicial (TCC1)</a:t>
            </a:r>
            <a:endParaRPr lang="en-US" sz="2025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928688"/>
            <a:ext cx="214313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885825"/>
            <a:ext cx="139607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3498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Protótipo Original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285750" y="1270750"/>
            <a:ext cx="65" cy="17312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1125" dirty="0"/>
          </a:p>
        </p:txBody>
      </p:sp>
      <p:sp>
        <p:nvSpPr>
          <p:cNvPr id="7" name="Text 3"/>
          <p:cNvSpPr/>
          <p:nvPr/>
        </p:nvSpPr>
        <p:spPr>
          <a:xfrm>
            <a:off x="407222" y="1270750"/>
            <a:ext cx="2041271" cy="1731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1125" dirty="0"/>
          </a:p>
        </p:txBody>
      </p:sp>
      <p:sp>
        <p:nvSpPr>
          <p:cNvPr id="8" name="Text 4"/>
          <p:cNvSpPr/>
          <p:nvPr/>
        </p:nvSpPr>
        <p:spPr>
          <a:xfrm>
            <a:off x="279539" y="1410400"/>
            <a:ext cx="12147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dirty="0">
                <a:solidFill>
                  <a:srgbClr val="3498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1125" dirty="0"/>
          </a:p>
        </p:txBody>
      </p:sp>
      <p:sp>
        <p:nvSpPr>
          <p:cNvPr id="9" name="Text 5"/>
          <p:cNvSpPr/>
          <p:nvPr/>
        </p:nvSpPr>
        <p:spPr>
          <a:xfrm>
            <a:off x="407222" y="1406216"/>
            <a:ext cx="3573494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Arquitetura: LSTM simples (2 camadas, 256 neurônios)</a:t>
            </a:r>
            <a:endParaRPr lang="en-US" sz="1125" dirty="0"/>
          </a:p>
        </p:txBody>
      </p:sp>
      <p:sp>
        <p:nvSpPr>
          <p:cNvPr id="10" name="Text 6"/>
          <p:cNvSpPr/>
          <p:nvPr/>
        </p:nvSpPr>
        <p:spPr>
          <a:xfrm>
            <a:off x="272964" y="1697744"/>
            <a:ext cx="12147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dirty="0">
                <a:solidFill>
                  <a:srgbClr val="3498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1125" dirty="0"/>
          </a:p>
        </p:txBody>
      </p:sp>
      <p:sp>
        <p:nvSpPr>
          <p:cNvPr id="11" name="Text 7"/>
          <p:cNvSpPr/>
          <p:nvPr/>
        </p:nvSpPr>
        <p:spPr>
          <a:xfrm>
            <a:off x="407222" y="1678781"/>
            <a:ext cx="269244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Capacidade: Geração monofônica básica</a:t>
            </a:r>
            <a:endParaRPr lang="en-US" sz="1125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" y="2257425"/>
            <a:ext cx="150019" cy="1714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07206" y="2214563"/>
            <a:ext cx="120570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3498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Dados e Saída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285750" y="2578894"/>
            <a:ext cx="12147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dirty="0">
                <a:solidFill>
                  <a:srgbClr val="3498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1125" dirty="0"/>
          </a:p>
        </p:txBody>
      </p:sp>
      <p:sp>
        <p:nvSpPr>
          <p:cNvPr id="15" name="Text 10"/>
          <p:cNvSpPr/>
          <p:nvPr/>
        </p:nvSpPr>
        <p:spPr>
          <a:xfrm>
            <a:off x="407222" y="2578894"/>
            <a:ext cx="27396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Dataset: Apenas MAESTRO (50 arquivos)</a:t>
            </a:r>
            <a:endParaRPr lang="en-US" sz="1125" dirty="0"/>
          </a:p>
        </p:txBody>
      </p:sp>
      <p:sp>
        <p:nvSpPr>
          <p:cNvPr id="16" name="Text 11"/>
          <p:cNvSpPr/>
          <p:nvPr/>
        </p:nvSpPr>
        <p:spPr>
          <a:xfrm>
            <a:off x="285750" y="2864644"/>
            <a:ext cx="12147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dirty="0">
                <a:solidFill>
                  <a:srgbClr val="3498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1125" dirty="0"/>
          </a:p>
        </p:txBody>
      </p:sp>
      <p:sp>
        <p:nvSpPr>
          <p:cNvPr id="17" name="Text 12"/>
          <p:cNvSpPr/>
          <p:nvPr/>
        </p:nvSpPr>
        <p:spPr>
          <a:xfrm>
            <a:off x="407222" y="2864644"/>
            <a:ext cx="3364818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Saída: Sequência de notas (pitch, velocity, duration)</a:t>
            </a:r>
            <a:endParaRPr lang="en-US" sz="1125" dirty="0"/>
          </a:p>
        </p:txBody>
      </p:sp>
      <p:sp>
        <p:nvSpPr>
          <p:cNvPr id="18" name="Shape 13"/>
          <p:cNvSpPr/>
          <p:nvPr/>
        </p:nvSpPr>
        <p:spPr>
          <a:xfrm>
            <a:off x="4536281" y="885825"/>
            <a:ext cx="4321969" cy="2371725"/>
          </a:xfrm>
          <a:prstGeom prst="rect">
            <a:avLst/>
          </a:prstGeom>
          <a:solidFill>
            <a:srgbClr val="3498DB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9156" y="1071563"/>
            <a:ext cx="171450" cy="17145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922044" y="1028700"/>
            <a:ext cx="890932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3498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Limitações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4679156" y="1393031"/>
            <a:ext cx="12147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dirty="0">
                <a:solidFill>
                  <a:srgbClr val="3498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1125" dirty="0"/>
          </a:p>
        </p:txBody>
      </p:sp>
      <p:sp>
        <p:nvSpPr>
          <p:cNvPr id="22" name="Text 16"/>
          <p:cNvSpPr/>
          <p:nvPr/>
        </p:nvSpPr>
        <p:spPr>
          <a:xfrm>
            <a:off x="4800628" y="1393031"/>
            <a:ext cx="1730964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 multi-instrumentação</a:t>
            </a:r>
            <a:endParaRPr lang="en-US" sz="1125" dirty="0"/>
          </a:p>
        </p:txBody>
      </p:sp>
      <p:sp>
        <p:nvSpPr>
          <p:cNvPr id="23" name="Text 17"/>
          <p:cNvSpPr/>
          <p:nvPr/>
        </p:nvSpPr>
        <p:spPr>
          <a:xfrm>
            <a:off x="4679156" y="1678781"/>
            <a:ext cx="12147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dirty="0">
                <a:solidFill>
                  <a:srgbClr val="3498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1125" dirty="0"/>
          </a:p>
        </p:txBody>
      </p:sp>
      <p:sp>
        <p:nvSpPr>
          <p:cNvPr id="24" name="Text 18"/>
          <p:cNvSpPr/>
          <p:nvPr/>
        </p:nvSpPr>
        <p:spPr>
          <a:xfrm>
            <a:off x="4800628" y="1678781"/>
            <a:ext cx="17157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 análise de qualidade</a:t>
            </a:r>
            <a:endParaRPr lang="en-US" sz="1125" dirty="0"/>
          </a:p>
        </p:txBody>
      </p:sp>
      <p:sp>
        <p:nvSpPr>
          <p:cNvPr id="25" name="Text 19"/>
          <p:cNvSpPr/>
          <p:nvPr/>
        </p:nvSpPr>
        <p:spPr>
          <a:xfrm>
            <a:off x="4679156" y="1964531"/>
            <a:ext cx="12147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dirty="0">
                <a:solidFill>
                  <a:srgbClr val="3498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1125" dirty="0"/>
          </a:p>
        </p:txBody>
      </p:sp>
      <p:sp>
        <p:nvSpPr>
          <p:cNvPr id="26" name="Text 20"/>
          <p:cNvSpPr/>
          <p:nvPr/>
        </p:nvSpPr>
        <p:spPr>
          <a:xfrm>
            <a:off x="4800628" y="1964531"/>
            <a:ext cx="13581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 não modular</a:t>
            </a:r>
            <a:endParaRPr lang="en-US" sz="1125" dirty="0"/>
          </a:p>
        </p:txBody>
      </p:sp>
      <p:sp>
        <p:nvSpPr>
          <p:cNvPr id="27" name="Text 21"/>
          <p:cNvSpPr/>
          <p:nvPr/>
        </p:nvSpPr>
        <p:spPr>
          <a:xfrm>
            <a:off x="4679156" y="2250281"/>
            <a:ext cx="12147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dirty="0">
                <a:solidFill>
                  <a:srgbClr val="3498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1125" dirty="0"/>
          </a:p>
        </p:txBody>
      </p:sp>
      <p:sp>
        <p:nvSpPr>
          <p:cNvPr id="28" name="Text 22"/>
          <p:cNvSpPr/>
          <p:nvPr/>
        </p:nvSpPr>
        <p:spPr>
          <a:xfrm>
            <a:off x="4800628" y="2250281"/>
            <a:ext cx="231078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Resultados musicalmente limitados</a:t>
            </a:r>
            <a:endParaRPr lang="en-US" sz="11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444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64393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025" b="1" dirty="0">
                <a:solidFill>
                  <a:srgbClr val="3498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Evolução Técnica - Arquitetura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885825"/>
            <a:ext cx="864393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LSTM para Transformer Multi-Instrumental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289322" y="1289447"/>
            <a:ext cx="921879" cy="392906"/>
          </a:xfrm>
          <a:prstGeom prst="rect">
            <a:avLst/>
          </a:prstGeom>
          <a:solidFill>
            <a:srgbClr val="3498DB">
              <a:alpha val="30000"/>
            </a:srgbClr>
          </a:solidFill>
          <a:ln w="99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289322" y="1289447"/>
            <a:ext cx="993316" cy="392906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Aspecto</a:t>
            </a:r>
            <a:endParaRPr lang="en-US" sz="1125" dirty="0"/>
          </a:p>
        </p:txBody>
      </p:sp>
      <p:sp>
        <p:nvSpPr>
          <p:cNvPr id="7" name="Shape 4"/>
          <p:cNvSpPr/>
          <p:nvPr/>
        </p:nvSpPr>
        <p:spPr>
          <a:xfrm>
            <a:off x="1211200" y="1289447"/>
            <a:ext cx="1180728" cy="392906"/>
          </a:xfrm>
          <a:prstGeom prst="rect">
            <a:avLst/>
          </a:prstGeom>
          <a:solidFill>
            <a:srgbClr val="3498DB">
              <a:alpha val="30000"/>
            </a:srgbClr>
          </a:solidFill>
          <a:ln w="99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1211200" y="1289447"/>
            <a:ext cx="1252165" cy="392906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Antes (LSTM)</a:t>
            </a:r>
            <a:endParaRPr lang="en-US" sz="1125" dirty="0"/>
          </a:p>
        </p:txBody>
      </p:sp>
      <p:sp>
        <p:nvSpPr>
          <p:cNvPr id="9" name="Shape 6"/>
          <p:cNvSpPr/>
          <p:nvPr/>
        </p:nvSpPr>
        <p:spPr>
          <a:xfrm>
            <a:off x="2391928" y="1289447"/>
            <a:ext cx="2072915" cy="392906"/>
          </a:xfrm>
          <a:prstGeom prst="rect">
            <a:avLst/>
          </a:prstGeom>
          <a:solidFill>
            <a:srgbClr val="3498DB">
              <a:alpha val="30000"/>
            </a:srgbClr>
          </a:solidFill>
          <a:ln w="99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2391928" y="1289447"/>
            <a:ext cx="2144353" cy="392906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Agora (Transformer)</a:t>
            </a:r>
            <a:endParaRPr lang="en-US" sz="1125" dirty="0"/>
          </a:p>
        </p:txBody>
      </p:sp>
      <p:sp>
        <p:nvSpPr>
          <p:cNvPr id="11" name="Text 8"/>
          <p:cNvSpPr/>
          <p:nvPr/>
        </p:nvSpPr>
        <p:spPr>
          <a:xfrm>
            <a:off x="289322" y="1675209"/>
            <a:ext cx="993316" cy="736671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Modelo</a:t>
            </a:r>
            <a:endParaRPr lang="en-US" sz="1013" dirty="0"/>
          </a:p>
        </p:txBody>
      </p:sp>
      <p:sp>
        <p:nvSpPr>
          <p:cNvPr id="12" name="Text 9"/>
          <p:cNvSpPr/>
          <p:nvPr/>
        </p:nvSpPr>
        <p:spPr>
          <a:xfrm>
            <a:off x="1211200" y="1675209"/>
            <a:ext cx="1252612" cy="736671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camadas LSTM</a:t>
            </a:r>
            <a:endParaRPr lang="en-US" sz="1013" dirty="0"/>
          </a:p>
        </p:txBody>
      </p:sp>
      <p:sp>
        <p:nvSpPr>
          <p:cNvPr id="13" name="Text 10"/>
          <p:cNvSpPr/>
          <p:nvPr/>
        </p:nvSpPr>
        <p:spPr>
          <a:xfrm>
            <a:off x="2392375" y="1675209"/>
            <a:ext cx="2143906" cy="73667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camadas Transformer</a:t>
            </a:r>
            <a:endParaRPr lang="en-US" sz="1013" dirty="0"/>
          </a:p>
        </p:txBody>
      </p:sp>
      <p:sp>
        <p:nvSpPr>
          <p:cNvPr id="14" name="Shape 11"/>
          <p:cNvSpPr/>
          <p:nvPr/>
        </p:nvSpPr>
        <p:spPr>
          <a:xfrm>
            <a:off x="289322" y="2411881"/>
            <a:ext cx="4175522" cy="48491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289322" y="2411881"/>
            <a:ext cx="993316" cy="484910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Attention</a:t>
            </a:r>
            <a:endParaRPr lang="en-US" sz="1013" dirty="0"/>
          </a:p>
        </p:txBody>
      </p:sp>
      <p:sp>
        <p:nvSpPr>
          <p:cNvPr id="16" name="Text 13"/>
          <p:cNvSpPr/>
          <p:nvPr/>
        </p:nvSpPr>
        <p:spPr>
          <a:xfrm>
            <a:off x="1211200" y="2411881"/>
            <a:ext cx="1252612" cy="484910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Não</a:t>
            </a:r>
            <a:endParaRPr lang="en-US" sz="1013" dirty="0"/>
          </a:p>
        </p:txBody>
      </p:sp>
      <p:sp>
        <p:nvSpPr>
          <p:cNvPr id="17" name="Text 14"/>
          <p:cNvSpPr/>
          <p:nvPr/>
        </p:nvSpPr>
        <p:spPr>
          <a:xfrm>
            <a:off x="2392375" y="2411881"/>
            <a:ext cx="2143906" cy="48491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Multi-head (8 heads)</a:t>
            </a:r>
            <a:endParaRPr lang="en-US" sz="1013" dirty="0"/>
          </a:p>
        </p:txBody>
      </p:sp>
      <p:sp>
        <p:nvSpPr>
          <p:cNvPr id="18" name="Text 15"/>
          <p:cNvSpPr/>
          <p:nvPr/>
        </p:nvSpPr>
        <p:spPr>
          <a:xfrm>
            <a:off x="289322" y="2896791"/>
            <a:ext cx="993316" cy="736671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Instrumentos</a:t>
            </a:r>
            <a:endParaRPr lang="en-US" sz="1013" dirty="0"/>
          </a:p>
        </p:txBody>
      </p:sp>
      <p:sp>
        <p:nvSpPr>
          <p:cNvPr id="19" name="Text 16"/>
          <p:cNvSpPr/>
          <p:nvPr/>
        </p:nvSpPr>
        <p:spPr>
          <a:xfrm>
            <a:off x="1211200" y="2896791"/>
            <a:ext cx="1252612" cy="736671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(monofônico)</a:t>
            </a:r>
            <a:endParaRPr lang="en-US" sz="1013" dirty="0"/>
          </a:p>
        </p:txBody>
      </p:sp>
      <p:sp>
        <p:nvSpPr>
          <p:cNvPr id="20" name="Text 17"/>
          <p:cNvSpPr/>
          <p:nvPr/>
        </p:nvSpPr>
        <p:spPr>
          <a:xfrm>
            <a:off x="2392375" y="2896791"/>
            <a:ext cx="2143906" cy="73667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(piano, bass, drums, harmony, melody)</a:t>
            </a:r>
            <a:endParaRPr lang="en-US" sz="1013" dirty="0"/>
          </a:p>
        </p:txBody>
      </p:sp>
      <p:sp>
        <p:nvSpPr>
          <p:cNvPr id="21" name="Shape 18"/>
          <p:cNvSpPr/>
          <p:nvPr/>
        </p:nvSpPr>
        <p:spPr>
          <a:xfrm>
            <a:off x="289322" y="3633462"/>
            <a:ext cx="4175522" cy="48491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289322" y="3633462"/>
            <a:ext cx="993316" cy="484910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Parâmetros</a:t>
            </a:r>
            <a:endParaRPr lang="en-US" sz="1013" dirty="0"/>
          </a:p>
        </p:txBody>
      </p:sp>
      <p:sp>
        <p:nvSpPr>
          <p:cNvPr id="23" name="Text 20"/>
          <p:cNvSpPr/>
          <p:nvPr/>
        </p:nvSpPr>
        <p:spPr>
          <a:xfrm>
            <a:off x="1211200" y="3633462"/>
            <a:ext cx="1252612" cy="484910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~500K</a:t>
            </a:r>
            <a:endParaRPr lang="en-US" sz="1013" dirty="0"/>
          </a:p>
        </p:txBody>
      </p:sp>
      <p:sp>
        <p:nvSpPr>
          <p:cNvPr id="24" name="Text 21"/>
          <p:cNvSpPr/>
          <p:nvPr/>
        </p:nvSpPr>
        <p:spPr>
          <a:xfrm>
            <a:off x="2392375" y="3633462"/>
            <a:ext cx="2143906" cy="48491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~2M</a:t>
            </a:r>
            <a:endParaRPr lang="en-US" sz="1013" dirty="0"/>
          </a:p>
        </p:txBody>
      </p:sp>
      <p:sp>
        <p:nvSpPr>
          <p:cNvPr id="25" name="Text 22"/>
          <p:cNvSpPr/>
          <p:nvPr/>
        </p:nvSpPr>
        <p:spPr>
          <a:xfrm>
            <a:off x="289322" y="4118372"/>
            <a:ext cx="993316" cy="73675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Contexto</a:t>
            </a:r>
            <a:endParaRPr lang="en-US" sz="1013" dirty="0"/>
          </a:p>
        </p:txBody>
      </p:sp>
      <p:sp>
        <p:nvSpPr>
          <p:cNvPr id="26" name="Text 23"/>
          <p:cNvSpPr/>
          <p:nvPr/>
        </p:nvSpPr>
        <p:spPr>
          <a:xfrm>
            <a:off x="1211200" y="4118372"/>
            <a:ext cx="1252612" cy="73675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Sequencial limitado</a:t>
            </a:r>
            <a:endParaRPr lang="en-US" sz="1013" dirty="0"/>
          </a:p>
        </p:txBody>
      </p:sp>
      <p:sp>
        <p:nvSpPr>
          <p:cNvPr id="27" name="Text 24"/>
          <p:cNvSpPr/>
          <p:nvPr/>
        </p:nvSpPr>
        <p:spPr>
          <a:xfrm>
            <a:off x="2392375" y="4118372"/>
            <a:ext cx="2143906" cy="73675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Attention global</a:t>
            </a:r>
            <a:endParaRPr lang="en-US" sz="1013" dirty="0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2728" y="1792469"/>
            <a:ext cx="171450" cy="17145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4925616" y="1749606"/>
            <a:ext cx="186329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3498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Benefícios da Mudança</a:t>
            </a:r>
            <a:endParaRPr lang="en-US" sz="1350" dirty="0"/>
          </a:p>
        </p:txBody>
      </p:sp>
      <p:sp>
        <p:nvSpPr>
          <p:cNvPr id="30" name="Shape 26"/>
          <p:cNvSpPr/>
          <p:nvPr/>
        </p:nvSpPr>
        <p:spPr>
          <a:xfrm>
            <a:off x="4682728" y="2146592"/>
            <a:ext cx="4175522" cy="1250156"/>
          </a:xfrm>
          <a:prstGeom prst="rect">
            <a:avLst/>
          </a:prstGeom>
          <a:solidFill>
            <a:srgbClr val="3498DB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7"/>
          <p:cNvSpPr/>
          <p:nvPr/>
        </p:nvSpPr>
        <p:spPr>
          <a:xfrm>
            <a:off x="4825603" y="2289467"/>
            <a:ext cx="12147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dirty="0">
                <a:solidFill>
                  <a:srgbClr val="3498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1125" dirty="0"/>
          </a:p>
        </p:txBody>
      </p:sp>
      <p:sp>
        <p:nvSpPr>
          <p:cNvPr id="32" name="Text 28"/>
          <p:cNvSpPr/>
          <p:nvPr/>
        </p:nvSpPr>
        <p:spPr>
          <a:xfrm>
            <a:off x="4947075" y="2289467"/>
            <a:ext cx="1921836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Maior capacidade expressiva</a:t>
            </a:r>
            <a:endParaRPr lang="en-US" sz="1125" dirty="0"/>
          </a:p>
        </p:txBody>
      </p:sp>
      <p:sp>
        <p:nvSpPr>
          <p:cNvPr id="33" name="Text 29"/>
          <p:cNvSpPr/>
          <p:nvPr/>
        </p:nvSpPr>
        <p:spPr>
          <a:xfrm>
            <a:off x="4825603" y="2610936"/>
            <a:ext cx="12147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dirty="0">
                <a:solidFill>
                  <a:srgbClr val="3498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1125" dirty="0"/>
          </a:p>
        </p:txBody>
      </p:sp>
      <p:sp>
        <p:nvSpPr>
          <p:cNvPr id="34" name="Text 30"/>
          <p:cNvSpPr/>
          <p:nvPr/>
        </p:nvSpPr>
        <p:spPr>
          <a:xfrm>
            <a:off x="4947075" y="2610936"/>
            <a:ext cx="2525371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Processamento paralelo mais eficiente</a:t>
            </a:r>
            <a:endParaRPr lang="en-US" sz="1125" dirty="0"/>
          </a:p>
        </p:txBody>
      </p:sp>
      <p:sp>
        <p:nvSpPr>
          <p:cNvPr id="35" name="Text 31"/>
          <p:cNvSpPr/>
          <p:nvPr/>
        </p:nvSpPr>
        <p:spPr>
          <a:xfrm>
            <a:off x="4825603" y="2932405"/>
            <a:ext cx="12147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dirty="0">
                <a:solidFill>
                  <a:srgbClr val="3498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1125" dirty="0"/>
          </a:p>
        </p:txBody>
      </p:sp>
      <p:sp>
        <p:nvSpPr>
          <p:cNvPr id="36" name="Text 32"/>
          <p:cNvSpPr/>
          <p:nvPr/>
        </p:nvSpPr>
        <p:spPr>
          <a:xfrm>
            <a:off x="4947075" y="2932405"/>
            <a:ext cx="2747916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Melhor captura de dependências musicais</a:t>
            </a:r>
            <a:endParaRPr lang="en-US" sz="11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64393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025" b="1" dirty="0">
                <a:solidFill>
                  <a:srgbClr val="3498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Evolução Técnica - Sistema Modular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885825"/>
            <a:ext cx="864393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Script Único para Sistema Profissional</a:t>
            </a:r>
            <a:endParaRPr lang="en-US" sz="13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1328738"/>
            <a:ext cx="192881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50069" y="1285875"/>
            <a:ext cx="1195992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3498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Estrutura Atual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336594" y="1657350"/>
            <a:ext cx="4179094" cy="1828800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4"/>
          <p:cNvSpPr/>
          <p:nvPr/>
        </p:nvSpPr>
        <p:spPr>
          <a:xfrm>
            <a:off x="428625" y="1908023"/>
            <a:ext cx="1752872" cy="1558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3498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music_generator.py</a:t>
            </a:r>
            <a:endParaRPr lang="en-US" sz="1013" dirty="0"/>
          </a:p>
        </p:txBody>
      </p:sp>
      <p:sp>
        <p:nvSpPr>
          <p:cNvPr id="9" name="Text 5"/>
          <p:cNvSpPr/>
          <p:nvPr/>
        </p:nvSpPr>
        <p:spPr>
          <a:xfrm>
            <a:off x="2261415" y="1814512"/>
            <a:ext cx="2560616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Modelo Transformer multi-instrumental</a:t>
            </a:r>
            <a:endParaRPr lang="en-US" sz="1013" dirty="0"/>
          </a:p>
        </p:txBody>
      </p:sp>
      <p:sp>
        <p:nvSpPr>
          <p:cNvPr id="10" name="Text 6"/>
          <p:cNvSpPr/>
          <p:nvPr/>
        </p:nvSpPr>
        <p:spPr>
          <a:xfrm>
            <a:off x="428625" y="2248668"/>
            <a:ext cx="1752872" cy="1558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3498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data_processor.py</a:t>
            </a:r>
            <a:endParaRPr lang="en-US" sz="1013" dirty="0"/>
          </a:p>
        </p:txBody>
      </p:sp>
      <p:sp>
        <p:nvSpPr>
          <p:cNvPr id="11" name="Text 7"/>
          <p:cNvSpPr/>
          <p:nvPr/>
        </p:nvSpPr>
        <p:spPr>
          <a:xfrm>
            <a:off x="2261415" y="2157411"/>
            <a:ext cx="2530366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Processamento avançado de datasets</a:t>
            </a:r>
            <a:endParaRPr lang="en-US" sz="1013" dirty="0"/>
          </a:p>
        </p:txBody>
      </p:sp>
      <p:sp>
        <p:nvSpPr>
          <p:cNvPr id="12" name="Text 8"/>
          <p:cNvSpPr/>
          <p:nvPr/>
        </p:nvSpPr>
        <p:spPr>
          <a:xfrm>
            <a:off x="428625" y="2564606"/>
            <a:ext cx="1460422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3498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music_utils.py</a:t>
            </a:r>
            <a:endParaRPr lang="en-US" sz="1013" dirty="0"/>
          </a:p>
        </p:txBody>
      </p:sp>
      <p:sp>
        <p:nvSpPr>
          <p:cNvPr id="13" name="Text 9"/>
          <p:cNvSpPr/>
          <p:nvPr/>
        </p:nvSpPr>
        <p:spPr>
          <a:xfrm>
            <a:off x="2261415" y="2551585"/>
            <a:ext cx="2232059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Análise musical e métricas</a:t>
            </a:r>
            <a:endParaRPr lang="en-US" sz="1013" dirty="0"/>
          </a:p>
        </p:txBody>
      </p:sp>
      <p:sp>
        <p:nvSpPr>
          <p:cNvPr id="14" name="Text 10"/>
          <p:cNvSpPr/>
          <p:nvPr/>
        </p:nvSpPr>
        <p:spPr>
          <a:xfrm>
            <a:off x="428625" y="2757488"/>
            <a:ext cx="1306078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3498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main_demo.py</a:t>
            </a:r>
            <a:endParaRPr lang="en-US" sz="1013" dirty="0"/>
          </a:p>
        </p:txBody>
      </p:sp>
      <p:sp>
        <p:nvSpPr>
          <p:cNvPr id="15" name="Text 11"/>
          <p:cNvSpPr/>
          <p:nvPr/>
        </p:nvSpPr>
        <p:spPr>
          <a:xfrm>
            <a:off x="2261415" y="2757488"/>
            <a:ext cx="1614739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Pipeline integrado</a:t>
            </a:r>
            <a:endParaRPr lang="en-US" sz="1013" dirty="0"/>
          </a:p>
        </p:txBody>
      </p:sp>
      <p:sp>
        <p:nvSpPr>
          <p:cNvPr id="16" name="Text 12"/>
          <p:cNvSpPr/>
          <p:nvPr/>
        </p:nvSpPr>
        <p:spPr>
          <a:xfrm>
            <a:off x="428625" y="2950369"/>
            <a:ext cx="122892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3498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config.json</a:t>
            </a:r>
            <a:endParaRPr lang="en-US" sz="1013" dirty="0"/>
          </a:p>
        </p:txBody>
      </p:sp>
      <p:sp>
        <p:nvSpPr>
          <p:cNvPr id="17" name="Text 13"/>
          <p:cNvSpPr/>
          <p:nvPr/>
        </p:nvSpPr>
        <p:spPr>
          <a:xfrm>
            <a:off x="2262755" y="2968871"/>
            <a:ext cx="2309245" cy="1558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</a:t>
            </a:r>
            <a:r>
              <a:rPr lang="en-US" sz="1013" dirty="0" err="1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Configurações</a:t>
            </a:r>
            <a:endParaRPr lang="en-US" sz="1013" dirty="0"/>
          </a:p>
        </p:txBody>
      </p:sp>
      <p:sp>
        <p:nvSpPr>
          <p:cNvPr id="18" name="Text 14"/>
          <p:cNvSpPr/>
          <p:nvPr/>
        </p:nvSpPr>
        <p:spPr>
          <a:xfrm>
            <a:off x="428625" y="3143250"/>
            <a:ext cx="1614739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3498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requirements.txt</a:t>
            </a:r>
            <a:endParaRPr lang="en-US" sz="1013" dirty="0"/>
          </a:p>
        </p:txBody>
      </p:sp>
      <p:sp>
        <p:nvSpPr>
          <p:cNvPr id="19" name="Text 15"/>
          <p:cNvSpPr/>
          <p:nvPr/>
        </p:nvSpPr>
        <p:spPr>
          <a:xfrm>
            <a:off x="2265615" y="3162130"/>
            <a:ext cx="1151762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Dependências</a:t>
            </a:r>
            <a:endParaRPr lang="en-US" sz="1013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9156" y="1328738"/>
            <a:ext cx="192881" cy="17145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943475" y="1285875"/>
            <a:ext cx="214876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3498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Principais Módulos Criados</a:t>
            </a:r>
            <a:endParaRPr lang="en-US" sz="1350" dirty="0"/>
          </a:p>
        </p:txBody>
      </p:sp>
      <p:sp>
        <p:nvSpPr>
          <p:cNvPr id="22" name="Shape 17"/>
          <p:cNvSpPr/>
          <p:nvPr/>
        </p:nvSpPr>
        <p:spPr>
          <a:xfrm>
            <a:off x="4679156" y="1650206"/>
            <a:ext cx="4179094" cy="3036094"/>
          </a:xfrm>
          <a:prstGeom prst="rect">
            <a:avLst/>
          </a:prstGeom>
          <a:solidFill>
            <a:srgbClr val="3498DB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18"/>
          <p:cNvSpPr/>
          <p:nvPr/>
        </p:nvSpPr>
        <p:spPr>
          <a:xfrm>
            <a:off x="4822031" y="1793081"/>
            <a:ext cx="3964781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dirty="0">
                <a:solidFill>
                  <a:srgbClr val="3498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MusicTransformer</a:t>
            </a:r>
            <a:endParaRPr lang="en-US" sz="1125" dirty="0"/>
          </a:p>
        </p:txBody>
      </p:sp>
      <p:sp>
        <p:nvSpPr>
          <p:cNvPr id="24" name="Text 19"/>
          <p:cNvSpPr/>
          <p:nvPr/>
        </p:nvSpPr>
        <p:spPr>
          <a:xfrm>
            <a:off x="4822031" y="2043113"/>
            <a:ext cx="3964781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Arquitetura principal com attention</a:t>
            </a:r>
            <a:endParaRPr lang="en-US" sz="1013" dirty="0"/>
          </a:p>
        </p:txBody>
      </p:sp>
      <p:sp>
        <p:nvSpPr>
          <p:cNvPr id="25" name="Text 20"/>
          <p:cNvSpPr/>
          <p:nvPr/>
        </p:nvSpPr>
        <p:spPr>
          <a:xfrm>
            <a:off x="4822031" y="2343150"/>
            <a:ext cx="3964781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dirty="0">
                <a:solidFill>
                  <a:srgbClr val="3498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MultiInstrumentalGenerator</a:t>
            </a:r>
            <a:endParaRPr lang="en-US" sz="1125" dirty="0"/>
          </a:p>
        </p:txBody>
      </p:sp>
      <p:sp>
        <p:nvSpPr>
          <p:cNvPr id="26" name="Text 21"/>
          <p:cNvSpPr/>
          <p:nvPr/>
        </p:nvSpPr>
        <p:spPr>
          <a:xfrm>
            <a:off x="4822031" y="2593181"/>
            <a:ext cx="3964781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Geração coordenada de 5 instrumentos</a:t>
            </a:r>
            <a:endParaRPr lang="en-US" sz="1013" dirty="0"/>
          </a:p>
        </p:txBody>
      </p:sp>
      <p:sp>
        <p:nvSpPr>
          <p:cNvPr id="27" name="Text 22"/>
          <p:cNvSpPr/>
          <p:nvPr/>
        </p:nvSpPr>
        <p:spPr>
          <a:xfrm>
            <a:off x="4822031" y="2893219"/>
            <a:ext cx="3964781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dirty="0">
                <a:solidFill>
                  <a:srgbClr val="3498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DatasetProcessor</a:t>
            </a:r>
            <a:endParaRPr lang="en-US" sz="1125" dirty="0"/>
          </a:p>
        </p:txBody>
      </p:sp>
      <p:sp>
        <p:nvSpPr>
          <p:cNvPr id="28" name="Text 23"/>
          <p:cNvSpPr/>
          <p:nvPr/>
        </p:nvSpPr>
        <p:spPr>
          <a:xfrm>
            <a:off x="4822031" y="3161752"/>
            <a:ext cx="3964781" cy="1558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Processamento MAESTRO + Groove</a:t>
            </a:r>
            <a:endParaRPr lang="en-US" sz="1013" dirty="0"/>
          </a:p>
        </p:txBody>
      </p:sp>
      <p:sp>
        <p:nvSpPr>
          <p:cNvPr id="29" name="Text 24"/>
          <p:cNvSpPr/>
          <p:nvPr/>
        </p:nvSpPr>
        <p:spPr>
          <a:xfrm>
            <a:off x="4822031" y="3443288"/>
            <a:ext cx="3964781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dirty="0">
                <a:solidFill>
                  <a:srgbClr val="3498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MusicAnalyzer</a:t>
            </a:r>
            <a:endParaRPr lang="en-US" sz="1125" dirty="0"/>
          </a:p>
        </p:txBody>
      </p:sp>
      <p:sp>
        <p:nvSpPr>
          <p:cNvPr id="30" name="Text 25"/>
          <p:cNvSpPr/>
          <p:nvPr/>
        </p:nvSpPr>
        <p:spPr>
          <a:xfrm>
            <a:off x="4822031" y="3693319"/>
            <a:ext cx="3964781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Análise harmônica e detecção de plágio</a:t>
            </a:r>
            <a:endParaRPr lang="en-US" sz="1013" dirty="0"/>
          </a:p>
        </p:txBody>
      </p:sp>
      <p:sp>
        <p:nvSpPr>
          <p:cNvPr id="31" name="Text 26"/>
          <p:cNvSpPr/>
          <p:nvPr/>
        </p:nvSpPr>
        <p:spPr>
          <a:xfrm>
            <a:off x="4822031" y="3993356"/>
            <a:ext cx="3964781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dirty="0">
                <a:solidFill>
                  <a:srgbClr val="3498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MusicVisualizer</a:t>
            </a:r>
            <a:endParaRPr lang="en-US" sz="1125" dirty="0"/>
          </a:p>
        </p:txBody>
      </p:sp>
      <p:sp>
        <p:nvSpPr>
          <p:cNvPr id="32" name="Text 27"/>
          <p:cNvSpPr/>
          <p:nvPr/>
        </p:nvSpPr>
        <p:spPr>
          <a:xfrm>
            <a:off x="4822031" y="4243388"/>
            <a:ext cx="3964781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Visualizações e métricas</a:t>
            </a:r>
            <a:endParaRPr lang="en-US" sz="1013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33650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64393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025" b="1" dirty="0">
                <a:solidFill>
                  <a:srgbClr val="3498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Evolução dos Dados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885825"/>
            <a:ext cx="864393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Expansão e Processamento Inteligente</a:t>
            </a:r>
            <a:endParaRPr lang="en-US" sz="13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1328738"/>
            <a:ext cx="150019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7206" y="1285875"/>
            <a:ext cx="183457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3498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Comparação de Dados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289322" y="1653778"/>
            <a:ext cx="1029230" cy="371475"/>
          </a:xfrm>
          <a:prstGeom prst="rect">
            <a:avLst/>
          </a:prstGeom>
          <a:solidFill>
            <a:srgbClr val="3498DB">
              <a:alpha val="30000"/>
            </a:srgbClr>
          </a:solidFill>
          <a:ln w="99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4"/>
          <p:cNvSpPr/>
          <p:nvPr/>
        </p:nvSpPr>
        <p:spPr>
          <a:xfrm>
            <a:off x="289322" y="1653778"/>
            <a:ext cx="1100668" cy="37147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1013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Característica</a:t>
            </a:r>
            <a:endParaRPr lang="en-US" sz="1013" dirty="0"/>
          </a:p>
        </p:txBody>
      </p:sp>
      <p:sp>
        <p:nvSpPr>
          <p:cNvPr id="9" name="Shape 5"/>
          <p:cNvSpPr/>
          <p:nvPr/>
        </p:nvSpPr>
        <p:spPr>
          <a:xfrm>
            <a:off x="1314980" y="1653778"/>
            <a:ext cx="1389208" cy="371475"/>
          </a:xfrm>
          <a:prstGeom prst="rect">
            <a:avLst/>
          </a:prstGeom>
          <a:solidFill>
            <a:srgbClr val="3498DB">
              <a:alpha val="30000"/>
            </a:srgbClr>
          </a:solidFill>
          <a:ln w="99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6"/>
          <p:cNvSpPr/>
          <p:nvPr/>
        </p:nvSpPr>
        <p:spPr>
          <a:xfrm>
            <a:off x="1314980" y="1653778"/>
            <a:ext cx="1460646" cy="37147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1013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Versão Original</a:t>
            </a:r>
            <a:endParaRPr lang="en-US" sz="1013" dirty="0"/>
          </a:p>
        </p:txBody>
      </p:sp>
      <p:sp>
        <p:nvSpPr>
          <p:cNvPr id="11" name="Shape 7"/>
          <p:cNvSpPr/>
          <p:nvPr/>
        </p:nvSpPr>
        <p:spPr>
          <a:xfrm>
            <a:off x="2702123" y="1653778"/>
            <a:ext cx="1759148" cy="371475"/>
          </a:xfrm>
          <a:prstGeom prst="rect">
            <a:avLst/>
          </a:prstGeom>
          <a:solidFill>
            <a:srgbClr val="3498DB">
              <a:alpha val="30000"/>
            </a:srgbClr>
          </a:solidFill>
          <a:ln w="99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8"/>
          <p:cNvSpPr/>
          <p:nvPr/>
        </p:nvSpPr>
        <p:spPr>
          <a:xfrm>
            <a:off x="2702123" y="1653778"/>
            <a:ext cx="1830586" cy="37147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1013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Versão Atual</a:t>
            </a:r>
            <a:endParaRPr lang="en-US" sz="1013" dirty="0"/>
          </a:p>
        </p:txBody>
      </p:sp>
      <p:sp>
        <p:nvSpPr>
          <p:cNvPr id="13" name="Text 9"/>
          <p:cNvSpPr/>
          <p:nvPr/>
        </p:nvSpPr>
        <p:spPr>
          <a:xfrm>
            <a:off x="289322" y="2018109"/>
            <a:ext cx="1093524" cy="521494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Datasets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311408" y="2018109"/>
            <a:ext cx="1462153" cy="52149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MAESTRO (50 arquivos)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2702123" y="2106501"/>
            <a:ext cx="1830586" cy="34471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MAESTRO + Groove 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289322" y="2539603"/>
            <a:ext cx="4171950" cy="52149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3"/>
          <p:cNvSpPr/>
          <p:nvPr/>
        </p:nvSpPr>
        <p:spPr>
          <a:xfrm>
            <a:off x="289322" y="2539603"/>
            <a:ext cx="1093524" cy="521494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Processamento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311408" y="2539603"/>
            <a:ext cx="1462153" cy="52149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Básico (notas individuais)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2702123" y="2539603"/>
            <a:ext cx="1830586" cy="52149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Multi-track com sincronização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289322" y="3061097"/>
            <a:ext cx="1093524" cy="350044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Balanceamento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311408" y="3061097"/>
            <a:ext cx="1462153" cy="35004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Não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2702123" y="3061097"/>
            <a:ext cx="1830586" cy="35004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tonalidade e tempo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289322" y="3411141"/>
            <a:ext cx="4171950" cy="3500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0"/>
          <p:cNvSpPr/>
          <p:nvPr/>
        </p:nvSpPr>
        <p:spPr>
          <a:xfrm>
            <a:off x="289322" y="3411141"/>
            <a:ext cx="1093524" cy="350044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Representação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1311408" y="3411141"/>
            <a:ext cx="1462153" cy="35004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Sequência linear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2702123" y="3411141"/>
            <a:ext cx="1830586" cy="35004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Estrutura multi-instrumental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289322" y="3761184"/>
            <a:ext cx="1093524" cy="350044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Validação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311408" y="3761184"/>
            <a:ext cx="1462153" cy="35004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2702123" y="3761184"/>
            <a:ext cx="1830586" cy="35004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Automática com filtros</a:t>
            </a:r>
            <a:endParaRPr lang="en-US" sz="900" dirty="0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9156" y="1328738"/>
            <a:ext cx="214313" cy="17145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4964906" y="1285875"/>
            <a:ext cx="25967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3498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Melhorias no Pré-processamento</a:t>
            </a:r>
            <a:endParaRPr lang="en-US" sz="1350" dirty="0"/>
          </a:p>
        </p:txBody>
      </p:sp>
      <p:sp>
        <p:nvSpPr>
          <p:cNvPr id="33" name="Shape 27"/>
          <p:cNvSpPr/>
          <p:nvPr/>
        </p:nvSpPr>
        <p:spPr>
          <a:xfrm>
            <a:off x="4679156" y="1650206"/>
            <a:ext cx="4179094" cy="1400175"/>
          </a:xfrm>
          <a:prstGeom prst="rect">
            <a:avLst/>
          </a:prstGeom>
          <a:solidFill>
            <a:srgbClr val="3498DB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Text 28"/>
          <p:cNvSpPr/>
          <p:nvPr/>
        </p:nvSpPr>
        <p:spPr>
          <a:xfrm>
            <a:off x="4822031" y="1793081"/>
            <a:ext cx="11145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498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4933485" y="1793081"/>
            <a:ext cx="186334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Detecção automática de tonalidade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4822031" y="2071688"/>
            <a:ext cx="11145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498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4933485" y="2071688"/>
            <a:ext cx="16026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Análise de tempo e compasso</a:t>
            </a:r>
            <a:endParaRPr lang="en-US" sz="900" dirty="0"/>
          </a:p>
        </p:txBody>
      </p:sp>
      <p:sp>
        <p:nvSpPr>
          <p:cNvPr id="38" name="Text 32"/>
          <p:cNvSpPr/>
          <p:nvPr/>
        </p:nvSpPr>
        <p:spPr>
          <a:xfrm>
            <a:off x="4822031" y="2350294"/>
            <a:ext cx="11145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498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900" dirty="0"/>
          </a:p>
        </p:txBody>
      </p:sp>
      <p:sp>
        <p:nvSpPr>
          <p:cNvPr id="39" name="Text 33"/>
          <p:cNvSpPr/>
          <p:nvPr/>
        </p:nvSpPr>
        <p:spPr>
          <a:xfrm>
            <a:off x="4933485" y="2350294"/>
            <a:ext cx="21426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Classificação inteligente de instrumentos</a:t>
            </a:r>
            <a:endParaRPr lang="en-US" sz="900" dirty="0"/>
          </a:p>
        </p:txBody>
      </p:sp>
      <p:sp>
        <p:nvSpPr>
          <p:cNvPr id="40" name="Text 34"/>
          <p:cNvSpPr/>
          <p:nvPr/>
        </p:nvSpPr>
        <p:spPr>
          <a:xfrm>
            <a:off x="4822031" y="2628900"/>
            <a:ext cx="11145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498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900" dirty="0"/>
          </a:p>
        </p:txBody>
      </p:sp>
      <p:sp>
        <p:nvSpPr>
          <p:cNvPr id="41" name="Text 35"/>
          <p:cNvSpPr/>
          <p:nvPr/>
        </p:nvSpPr>
        <p:spPr>
          <a:xfrm>
            <a:off x="4933485" y="2628900"/>
            <a:ext cx="253658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Criação de representação temporal sincronizada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863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64393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025" b="1" dirty="0">
                <a:solidFill>
                  <a:srgbClr val="3498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Limitações Atuais</a:t>
            </a:r>
            <a:endParaRPr lang="en-US" sz="2025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906" y="928688"/>
            <a:ext cx="214313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78656" y="885825"/>
            <a:ext cx="162152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3498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Limitações Técnicas</a:t>
            </a:r>
            <a:endParaRPr lang="en-US" sz="1350" dirty="0"/>
          </a:p>
        </p:txBody>
      </p:sp>
      <p:sp>
        <p:nvSpPr>
          <p:cNvPr id="6" name="Shape 2"/>
          <p:cNvSpPr/>
          <p:nvPr/>
        </p:nvSpPr>
        <p:spPr>
          <a:xfrm>
            <a:off x="392906" y="1250156"/>
            <a:ext cx="2643188" cy="1657350"/>
          </a:xfrm>
          <a:prstGeom prst="rect">
            <a:avLst/>
          </a:prstGeom>
          <a:solidFill>
            <a:srgbClr val="3498DB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3"/>
          <p:cNvSpPr/>
          <p:nvPr/>
        </p:nvSpPr>
        <p:spPr>
          <a:xfrm>
            <a:off x="532929" y="1516953"/>
            <a:ext cx="11145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498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644383" y="1533428"/>
            <a:ext cx="2317421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Estruturas </a:t>
            </a:r>
            <a:r>
              <a:rPr lang="en-US" sz="90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musicais</a:t>
            </a: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longas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535781" y="1843088"/>
            <a:ext cx="11145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498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647235" y="1843088"/>
            <a:ext cx="18248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Dinâmicas expressivas avançadas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535781" y="2121694"/>
            <a:ext cx="11145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498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647235" y="2138169"/>
            <a:ext cx="1539087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Controle de </a:t>
            </a:r>
            <a:r>
              <a:rPr lang="en-US" sz="90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harmonia</a:t>
            </a:r>
            <a:endParaRPr lang="en-US" sz="9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0406" y="928688"/>
            <a:ext cx="214313" cy="1714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536156" y="885825"/>
            <a:ext cx="190774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3498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Limitações de Avaliação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3250406" y="1250156"/>
            <a:ext cx="2643188" cy="1657350"/>
          </a:xfrm>
          <a:prstGeom prst="rect">
            <a:avLst/>
          </a:prstGeom>
          <a:solidFill>
            <a:srgbClr val="3498DB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1"/>
          <p:cNvSpPr/>
          <p:nvPr/>
        </p:nvSpPr>
        <p:spPr>
          <a:xfrm>
            <a:off x="3393281" y="1393031"/>
            <a:ext cx="11145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498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3504735" y="1393031"/>
            <a:ext cx="157530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Avaliação perceptual humana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3393281" y="1671638"/>
            <a:ext cx="11145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498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3504735" y="1688113"/>
            <a:ext cx="1767464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Testes com </a:t>
            </a:r>
            <a:r>
              <a:rPr lang="en-US" sz="90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ouvintes</a:t>
            </a: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reais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3393281" y="1950244"/>
            <a:ext cx="11145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498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3504735" y="1966719"/>
            <a:ext cx="1805639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Coêrencia</a:t>
            </a: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musical</a:t>
            </a:r>
            <a:endParaRPr lang="en-US" sz="9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7906" y="928688"/>
            <a:ext cx="171450" cy="17145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350794" y="885825"/>
            <a:ext cx="216793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3498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Limitações Computacionais</a:t>
            </a:r>
            <a:endParaRPr lang="en-US" sz="1350" dirty="0"/>
          </a:p>
        </p:txBody>
      </p:sp>
      <p:sp>
        <p:nvSpPr>
          <p:cNvPr id="24" name="Shape 18"/>
          <p:cNvSpPr/>
          <p:nvPr/>
        </p:nvSpPr>
        <p:spPr>
          <a:xfrm>
            <a:off x="6107906" y="1250156"/>
            <a:ext cx="2643188" cy="1657350"/>
          </a:xfrm>
          <a:prstGeom prst="rect">
            <a:avLst/>
          </a:prstGeom>
          <a:solidFill>
            <a:srgbClr val="3498DB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19"/>
          <p:cNvSpPr/>
          <p:nvPr/>
        </p:nvSpPr>
        <p:spPr>
          <a:xfrm>
            <a:off x="6250781" y="1393031"/>
            <a:ext cx="11145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498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6362235" y="1409506"/>
            <a:ext cx="2110922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Tempo de </a:t>
            </a:r>
            <a:r>
              <a:rPr lang="en-US" sz="90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treinamento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250781" y="1671638"/>
            <a:ext cx="11145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498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6362235" y="1671638"/>
            <a:ext cx="20663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Memória para sequências muito longas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532929" y="2386013"/>
            <a:ext cx="11145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498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644383" y="2402488"/>
            <a:ext cx="1475408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Sincronização</a:t>
            </a: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com dataset</a:t>
            </a:r>
            <a:endParaRPr lang="en-US" sz="90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5750" y="2757488"/>
            <a:ext cx="8572500" cy="21431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8783" y="0"/>
            <a:ext cx="9144000" cy="565070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322819"/>
            <a:ext cx="8643938" cy="311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025" b="1" dirty="0" err="1">
                <a:solidFill>
                  <a:srgbClr val="3498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Próximos</a:t>
            </a:r>
            <a:r>
              <a:rPr lang="en-US" sz="2025" b="1" dirty="0">
                <a:solidFill>
                  <a:srgbClr val="3498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Passos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885825"/>
            <a:ext cx="864393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que Falta para Completar o TCC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2552558" y="1254240"/>
            <a:ext cx="4179094" cy="1378744"/>
          </a:xfrm>
          <a:prstGeom prst="rect">
            <a:avLst/>
          </a:prstGeom>
          <a:solidFill>
            <a:srgbClr val="3498DB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2689922" y="1418546"/>
            <a:ext cx="214313" cy="214313"/>
          </a:xfrm>
          <a:prstGeom prst="ellipse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2755849" y="1418546"/>
            <a:ext cx="2857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011391" y="1397115"/>
            <a:ext cx="104354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3498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Refinamento</a:t>
            </a:r>
            <a:endParaRPr lang="en-US" sz="13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1391" y="1761446"/>
            <a:ext cx="100013" cy="1143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182841" y="1748384"/>
            <a:ext cx="16596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Melhorar métricas de avaliação</a:t>
            </a:r>
            <a:endParaRPr lang="en-US" sz="9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1391" y="2004334"/>
            <a:ext cx="100013" cy="1143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182841" y="1991272"/>
            <a:ext cx="218046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Implementar mais análises musicológicas</a:t>
            </a:r>
            <a:endParaRPr lang="en-US" sz="9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1391" y="2247221"/>
            <a:ext cx="100013" cy="1143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182841" y="2234159"/>
            <a:ext cx="117029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Otimizar performance</a:t>
            </a:r>
            <a:endParaRPr lang="en-US" sz="900" dirty="0"/>
          </a:p>
        </p:txBody>
      </p:sp>
      <p:sp>
        <p:nvSpPr>
          <p:cNvPr id="16" name="Shape 10"/>
          <p:cNvSpPr/>
          <p:nvPr/>
        </p:nvSpPr>
        <p:spPr>
          <a:xfrm>
            <a:off x="2547047" y="2775859"/>
            <a:ext cx="4179094" cy="1135856"/>
          </a:xfrm>
          <a:prstGeom prst="rect">
            <a:avLst/>
          </a:prstGeom>
          <a:solidFill>
            <a:srgbClr val="3498DB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1"/>
          <p:cNvSpPr/>
          <p:nvPr/>
        </p:nvSpPr>
        <p:spPr>
          <a:xfrm>
            <a:off x="2672062" y="2938123"/>
            <a:ext cx="214313" cy="214313"/>
          </a:xfrm>
          <a:prstGeom prst="ellipse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2"/>
          <p:cNvSpPr/>
          <p:nvPr/>
        </p:nvSpPr>
        <p:spPr>
          <a:xfrm>
            <a:off x="2743500" y="2938123"/>
            <a:ext cx="2857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3011391" y="2916692"/>
            <a:ext cx="81173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3498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Validação</a:t>
            </a:r>
            <a:endParaRPr lang="en-US" sz="135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1391" y="3281023"/>
            <a:ext cx="100013" cy="1143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182841" y="3254899"/>
            <a:ext cx="127644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Avaliação com usuários</a:t>
            </a:r>
            <a:endParaRPr lang="en-US" sz="9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1391" y="3523911"/>
            <a:ext cx="100013" cy="11430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3182841" y="3507731"/>
            <a:ext cx="2015096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 err="1">
                <a:solidFill>
                  <a:srgbClr val="FFFFFF"/>
                </a:solidFill>
                <a:latin typeface="Segoe UI" pitchFamily="34" charset="0"/>
                <a:cs typeface="Segoe UI" pitchFamily="34" charset="-120"/>
              </a:rPr>
              <a:t>Alcançar</a:t>
            </a:r>
            <a:r>
              <a:rPr lang="en-US" sz="900" dirty="0">
                <a:solidFill>
                  <a:srgbClr val="FFFFFF"/>
                </a:solidFill>
                <a:latin typeface="Segoe UI" pitchFamily="34" charset="0"/>
                <a:cs typeface="Segoe UI" pitchFamily="34" charset="-120"/>
              </a:rPr>
              <a:t> </a:t>
            </a:r>
            <a:r>
              <a:rPr lang="en-US" sz="900" dirty="0" err="1">
                <a:solidFill>
                  <a:srgbClr val="FFFFFF"/>
                </a:solidFill>
                <a:latin typeface="Segoe UI" pitchFamily="34" charset="0"/>
                <a:cs typeface="Segoe UI" pitchFamily="34" charset="-120"/>
              </a:rPr>
              <a:t>coerência</a:t>
            </a:r>
            <a:r>
              <a:rPr lang="en-US" sz="900" dirty="0">
                <a:solidFill>
                  <a:srgbClr val="FFFFFF"/>
                </a:solidFill>
                <a:latin typeface="Segoe UI" pitchFamily="34" charset="0"/>
                <a:cs typeface="Segoe UI" pitchFamily="34" charset="-120"/>
              </a:rPr>
              <a:t> musical</a:t>
            </a:r>
            <a:endParaRPr lang="en-US" sz="900" dirty="0"/>
          </a:p>
        </p:txBody>
      </p:sp>
      <p:sp>
        <p:nvSpPr>
          <p:cNvPr id="25" name="Shape 17"/>
          <p:cNvSpPr/>
          <p:nvPr/>
        </p:nvSpPr>
        <p:spPr>
          <a:xfrm>
            <a:off x="2547047" y="4054590"/>
            <a:ext cx="4179094" cy="1135856"/>
          </a:xfrm>
          <a:prstGeom prst="rect">
            <a:avLst/>
          </a:prstGeom>
          <a:solidFill>
            <a:srgbClr val="3498DB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Shape 18"/>
          <p:cNvSpPr/>
          <p:nvPr/>
        </p:nvSpPr>
        <p:spPr>
          <a:xfrm>
            <a:off x="2689922" y="4216854"/>
            <a:ext cx="214313" cy="214313"/>
          </a:xfrm>
          <a:prstGeom prst="ellipse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19"/>
          <p:cNvSpPr/>
          <p:nvPr/>
        </p:nvSpPr>
        <p:spPr>
          <a:xfrm>
            <a:off x="2761360" y="4216854"/>
            <a:ext cx="2857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3011391" y="4195423"/>
            <a:ext cx="122462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3498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Documentação</a:t>
            </a:r>
            <a:endParaRPr lang="en-US" sz="1350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1391" y="4559754"/>
            <a:ext cx="100013" cy="11430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3182841" y="4520568"/>
            <a:ext cx="91635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Dissertação final</a:t>
            </a:r>
            <a:endParaRPr lang="en-US" sz="900" dirty="0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1391" y="4802642"/>
            <a:ext cx="100013" cy="11430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3182841" y="4773400"/>
            <a:ext cx="1133324" cy="1384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Atualização</a:t>
            </a: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 </a:t>
            </a:r>
            <a:r>
              <a:rPr lang="en-US" sz="90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revisão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460</Words>
  <Application>Microsoft Office PowerPoint</Application>
  <PresentationFormat>Apresentação na tela (16:9)</PresentationFormat>
  <Paragraphs>159</Paragraphs>
  <Slides>8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Arial</vt:lpstr>
      <vt:lpstr>Courier New</vt:lpstr>
      <vt:lpstr>Segoe UI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Lucas Vinícius de Carvalho Ikeda</cp:lastModifiedBy>
  <cp:revision>5</cp:revision>
  <dcterms:created xsi:type="dcterms:W3CDTF">2025-06-21T19:27:13Z</dcterms:created>
  <dcterms:modified xsi:type="dcterms:W3CDTF">2025-06-26T15:14:26Z</dcterms:modified>
</cp:coreProperties>
</file>